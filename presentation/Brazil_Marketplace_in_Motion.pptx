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D55E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C3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VISUALIZATION  ·  FINAL PROJECT  ·  SUMMER 2026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332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Brazil's Marketplace in Motion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22960" y="306324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7C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story of the Olist e-commerce ecosystem, 2016–2018 — 100k real orders, 27 states, one marketplace under strain.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42976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56B4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100k+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22960" y="48920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C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analyzed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429000" y="42976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56B4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429000" y="48920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C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questions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35040" y="42976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56B4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6035040" y="48920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C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Brazilian states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41080" y="42976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56B4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8641080" y="48920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C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 deliverables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6263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Brazilian E-Commerce Public Dataset by Olist (Kaggle) · Notebook + Streamlit Dashboard + Presentation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82296" cy="365760"/>
          </a:xfrm>
          <a:prstGeom prst="rect">
            <a:avLst/>
          </a:prstGeom>
          <a:solidFill>
            <a:srgbClr val="D55E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7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rich, real-world marketplace — not a toy dataset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2697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3DF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0072B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6060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Numerical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97180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Price, freight, product weight &amp; dimensions, review scores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37560" y="1737360"/>
            <a:ext cx="2697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3DFD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1965960"/>
            <a:ext cx="457200" cy="457200"/>
          </a:xfrm>
          <a:prstGeom prst="ellipse">
            <a:avLst/>
          </a:prstGeom>
          <a:solidFill>
            <a:srgbClr val="D55E00"/>
          </a:solidFill>
          <a:ln/>
        </p:spPr>
      </p:sp>
      <p:sp>
        <p:nvSpPr>
          <p:cNvPr id="11" name="Text 9"/>
          <p:cNvSpPr/>
          <p:nvPr/>
        </p:nvSpPr>
        <p:spPr>
          <a:xfrm>
            <a:off x="3520440" y="26060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Categorical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20440" y="297180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product categories, payment types, order status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1737360"/>
            <a:ext cx="2697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3DFD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46520" y="1965960"/>
            <a:ext cx="457200" cy="457200"/>
          </a:xfrm>
          <a:prstGeom prst="ellipse">
            <a:avLst/>
          </a:prstGeom>
          <a:solidFill>
            <a:srgbClr val="009E73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26060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Spatial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297180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&amp; seller state / city / zip, geolocation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98280" y="1737360"/>
            <a:ext cx="2697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3DF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26880" y="1965960"/>
            <a:ext cx="457200" cy="457200"/>
          </a:xfrm>
          <a:prstGeom prst="ellipse">
            <a:avLst/>
          </a:prstGeom>
          <a:solidFill>
            <a:srgbClr val="E69F00"/>
          </a:solidFill>
          <a:ln/>
        </p:spPr>
      </p:sp>
      <p:sp>
        <p:nvSpPr>
          <p:cNvPr id="19" name="Text 17"/>
          <p:cNvSpPr/>
          <p:nvPr/>
        </p:nvSpPr>
        <p:spPr>
          <a:xfrm>
            <a:off x="9281160" y="26060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281160" y="297180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Purchase, approval, shipping &amp; delivery timestamps, 2016–18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4251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130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olist/work-at-olist-data on GitHub — the official mirror of the Kaggle "Brazilian E-Commerce Public Dataset by Olist". 9 relational tables merged into a 112,650-row, 45-column order-item master table.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5212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072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dataset. Twelve questions. One story.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Brazil's Marketplace in Motion  ·  Data Visualization Final Project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82296" cy="365760"/>
          </a:xfrm>
          <a:prstGeom prst="rect">
            <a:avLst/>
          </a:prstGeom>
          <a:solidFill>
            <a:srgbClr val="D55E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7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DELIVERY &amp; SATISFACTION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Slower delivery states also rate their orders lower</a:t>
            </a:r>
            <a:endParaRPr lang="en-US" sz="2400" dirty="0"/>
          </a:p>
        </p:txBody>
      </p:sp>
      <p:pic>
        <p:nvPicPr>
          <p:cNvPr id="5" name="Image 0" descr="/home/claude/project/deck/assets/q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7315200" cy="39044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046720" y="1645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046720" y="2011680"/>
            <a:ext cx="3657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Northern/Northeastern states average 15–21+ day deliveries and sit visibly below the national review average — the South-East core (SP/PR/MG) delivers fastest and rates highest.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Brazil's Marketplace in Motion  ·  Data Visualization Final Project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82296" cy="365760"/>
          </a:xfrm>
          <a:prstGeom prst="rect">
            <a:avLst/>
          </a:prstGeom>
          <a:solidFill>
            <a:srgbClr val="D55E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7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· DELIVERY &amp; SATISFACTION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late delivery costs almost a full star</a:t>
            </a:r>
            <a:endParaRPr lang="en-US" sz="2400" dirty="0"/>
          </a:p>
        </p:txBody>
      </p:sp>
      <p:pic>
        <p:nvPicPr>
          <p:cNvPr id="5" name="Image 0" descr="/home/claude/project/deck/assets/q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7315200" cy="39044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046720" y="1645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046720" y="2011680"/>
            <a:ext cx="3657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review score falls from 3.98 (on-time) to 2.68 for orders 1-7 days late, and 1.68 past a week late. Lateness — not early arrival — is the single biggest driver of review score.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Brazil's Marketplace in Motion  ·  Data Visualization Final Project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82296" cy="365760"/>
          </a:xfrm>
          <a:prstGeom prst="rect">
            <a:avLst/>
          </a:prstGeom>
          <a:solidFill>
            <a:srgbClr val="D55E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7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Q9 · MARKETPLACE STRUCTURE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is sharply concentrated among a few sellers</a:t>
            </a:r>
            <a:endParaRPr lang="en-US" sz="2400" dirty="0"/>
          </a:p>
        </p:txBody>
      </p:sp>
      <p:pic>
        <p:nvPicPr>
          <p:cNvPr id="5" name="Image 0" descr="/home/claude/project/deck/assets/q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7315200" cy="39044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046720" y="1645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046720" y="2011680"/>
            <a:ext cx="3657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20% of sellers generate roughly 82% of marketplace revenue — a classic Pareto pattern that makes seller-relationship management a high-leverage lever for Olist.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Brazil's Marketplace in Motion  ·  Data Visualization Final Project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82296" cy="365760"/>
          </a:xfrm>
          <a:prstGeom prst="rect">
            <a:avLst/>
          </a:prstGeom>
          <a:solidFill>
            <a:srgbClr val="D55E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7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Q6 &amp; Q3 · PRICE, FREIGHT &amp; SATISFACTION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doesn't buy satisfaction — but size drives freight cost</a:t>
            </a:r>
            <a:endParaRPr lang="en-US" sz="2200" dirty="0"/>
          </a:p>
        </p:txBody>
      </p:sp>
      <p:pic>
        <p:nvPicPr>
          <p:cNvPr id="5" name="Image 0" descr="/home/claude/project/deck/assets/q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554480"/>
            <a:ext cx="5806440" cy="3054096"/>
          </a:xfrm>
          <a:prstGeom prst="rect">
            <a:avLst/>
          </a:prstGeom>
        </p:spPr>
      </p:pic>
      <p:pic>
        <p:nvPicPr>
          <p:cNvPr id="6" name="Image 1" descr="/home/claude/project/deck/assets/q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554480"/>
            <a:ext cx="5577840" cy="312724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200" y="47091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every top-selling category, review scores stay essentially flat from cheapest to priciest quartile — while bulky, low-value categories like furniture and construction goods carry the heaviest freight-to-price burden. Satisfaction is an operations problem, not a pricing one.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Brazil's Marketplace in Motion  ·  Data Visualization Final Project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82296" cy="365760"/>
          </a:xfrm>
          <a:prstGeom prst="rect">
            <a:avLst/>
          </a:prstGeom>
          <a:solidFill>
            <a:srgbClr val="D55E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7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&amp; Q7 · GROWTH OVER TIME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2018 growth was healthy, broad-based, and increasingly weekday-driven</a:t>
            </a:r>
            <a:endParaRPr lang="en-US" sz="2200" dirty="0"/>
          </a:p>
        </p:txBody>
      </p:sp>
      <p:pic>
        <p:nvPicPr>
          <p:cNvPr id="5" name="Image 0" descr="/home/claude/project/deck/assets/q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554480"/>
            <a:ext cx="6035040" cy="3054096"/>
          </a:xfrm>
          <a:prstGeom prst="rect">
            <a:avLst/>
          </a:prstGeom>
        </p:spPr>
      </p:pic>
      <p:pic>
        <p:nvPicPr>
          <p:cNvPr id="6" name="Image 1" descr="/home/claude/project/deck/assets/q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349240" cy="305409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200" y="47091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beauty and watches/gifts pulled ahead of other categories through 2018, while weekday order volume grew faster than weekends year-over-year — a marketplace maturing past its early, weekend-shopping-driven phase.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Brazil's Marketplace in Motion  ·  Data Visualization Final Project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82296" cy="365760"/>
          </a:xfrm>
          <a:prstGeom prst="rect">
            <a:avLst/>
          </a:prstGeom>
          <a:solidFill>
            <a:srgbClr val="D55E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7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Q5, Q8 &amp; Q12 · CUSTOMERS &amp; PAYMENTS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Northern states spend more, finance longer, and rarely come back</a:t>
            </a:r>
            <a:endParaRPr lang="en-US" sz="2200" dirty="0"/>
          </a:p>
        </p:txBody>
      </p:sp>
      <p:pic>
        <p:nvPicPr>
          <p:cNvPr id="5" name="Image 0" descr="/home/claude/project/deck/assets/q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508760"/>
            <a:ext cx="6035040" cy="3035808"/>
          </a:xfrm>
          <a:prstGeom prst="rect">
            <a:avLst/>
          </a:prstGeom>
        </p:spPr>
      </p:pic>
      <p:pic>
        <p:nvPicPr>
          <p:cNvPr id="6" name="Image 1" descr="/home/claude/project/deck/assets/q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08760"/>
            <a:ext cx="5349240" cy="30358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200" y="46634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Northern states post the highest average order values and lean hardest on installment financing. Meanwhile repeat customers are just ~3% of the base — but spend roughly double per head — making retention a clear, under-exploited growth lever.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Brazil's Marketplace in Motion  ·  Data Visualization Final Project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82296" cy="365760"/>
          </a:xfrm>
          <a:prstGeom prst="rect">
            <a:avLst/>
          </a:prstGeom>
          <a:solidFill>
            <a:srgbClr val="D55E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7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it yourself — the live Streamlit dashboard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curated, filterable view across three tabs — Sales &amp; Categories, Delivery &amp; Satisfaction, Geography &amp; Customers — built with the same CVD-safe palette and design language as the notebook.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7498080" cy="3977640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19050">
            <a:solidFill>
              <a:srgbClr val="D8D3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148840"/>
            <a:ext cx="7498080" cy="365760"/>
          </a:xfrm>
          <a:prstGeom prst="rect">
            <a:avLst/>
          </a:prstGeom>
          <a:solidFill>
            <a:srgbClr val="EDEAE0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2276856"/>
            <a:ext cx="109728" cy="109728"/>
          </a:xfrm>
          <a:prstGeom prst="ellipse">
            <a:avLst/>
          </a:prstGeom>
          <a:solidFill>
            <a:srgbClr val="FF605C"/>
          </a:solidFill>
          <a:ln/>
        </p:spPr>
      </p:sp>
      <p:sp>
        <p:nvSpPr>
          <p:cNvPr id="9" name="Shape 7"/>
          <p:cNvSpPr/>
          <p:nvPr/>
        </p:nvSpPr>
        <p:spPr>
          <a:xfrm>
            <a:off x="987552" y="2276856"/>
            <a:ext cx="109728" cy="109728"/>
          </a:xfrm>
          <a:prstGeom prst="ellipse">
            <a:avLst/>
          </a:prstGeom>
          <a:solidFill>
            <a:srgbClr val="FFBD44"/>
          </a:solidFill>
          <a:ln/>
        </p:spPr>
      </p:sp>
      <p:sp>
        <p:nvSpPr>
          <p:cNvPr id="10" name="Shape 8"/>
          <p:cNvSpPr/>
          <p:nvPr/>
        </p:nvSpPr>
        <p:spPr>
          <a:xfrm>
            <a:off x="1243584" y="2276856"/>
            <a:ext cx="109728" cy="109728"/>
          </a:xfrm>
          <a:prstGeom prst="ellipse">
            <a:avLst/>
          </a:prstGeom>
          <a:solidFill>
            <a:srgbClr val="00CA4E"/>
          </a:solidFill>
          <a:ln/>
        </p:spPr>
      </p:sp>
      <p:sp>
        <p:nvSpPr>
          <p:cNvPr id="11" name="Text 9"/>
          <p:cNvSpPr/>
          <p:nvPr/>
        </p:nvSpPr>
        <p:spPr>
          <a:xfrm>
            <a:off x="1737360" y="216712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share.streamlit.io / olist-brazil-dashboard</a:t>
            </a:r>
            <a:endParaRPr lang="en-US" sz="1000" dirty="0"/>
          </a:p>
        </p:txBody>
      </p:sp>
      <p:pic>
        <p:nvPicPr>
          <p:cNvPr id="12" name="Image 0" descr="/home/claude/project/deck/assets/q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697480"/>
            <a:ext cx="3291840" cy="1691640"/>
          </a:xfrm>
          <a:prstGeom prst="rect">
            <a:avLst/>
          </a:prstGeom>
        </p:spPr>
      </p:pic>
      <p:pic>
        <p:nvPicPr>
          <p:cNvPr id="13" name="Image 1" descr="/home/claude/project/deck/assets/q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2697480"/>
            <a:ext cx="3566160" cy="1691640"/>
          </a:xfrm>
          <a:prstGeom prst="rect">
            <a:avLst/>
          </a:prstGeom>
        </p:spPr>
      </p:pic>
      <p:pic>
        <p:nvPicPr>
          <p:cNvPr id="14" name="Image 2" descr="/home/claude/project/deck/assets/q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480560"/>
            <a:ext cx="3291840" cy="1554480"/>
          </a:xfrm>
          <a:prstGeom prst="rect">
            <a:avLst/>
          </a:prstGeom>
        </p:spPr>
      </p:pic>
      <p:pic>
        <p:nvPicPr>
          <p:cNvPr id="15" name="Image 3" descr="/home/claude/project/deck/assets/q1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4480560"/>
            <a:ext cx="3566160" cy="15544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36676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8366760" y="26060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Sales &amp; Categories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8366760" y="310896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🚚  Delivery &amp; Satisfaction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8366760" y="36118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 Geography &amp; Customers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8366760" y="42976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year · state · product category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8366760" y="4892040"/>
            <a:ext cx="3291840" cy="777240"/>
          </a:xfrm>
          <a:prstGeom prst="roundRect">
            <a:avLst>
              <a:gd name="adj" fmla="val 7059"/>
            </a:avLst>
          </a:prstGeom>
          <a:solidFill>
            <a:srgbClr val="0072B2"/>
          </a:solidFill>
          <a:ln/>
        </p:spPr>
      </p:sp>
      <p:sp>
        <p:nvSpPr>
          <p:cNvPr id="22" name="Text 16"/>
          <p:cNvSpPr/>
          <p:nvPr/>
        </p:nvSpPr>
        <p:spPr>
          <a:xfrm>
            <a:off x="8503920" y="4956048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URL: [to be added on deploy]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Repo: github.com/&lt;user&gt;/olist-brazil-project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Brazil's Marketplace in Motion  ·  Data Visualization Final Project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D55E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85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C3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Olist should do next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56B4E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205740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delivery reliability first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23957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7C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the single strongest lever on review score — bigger than price, category, or payment method.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108960"/>
            <a:ext cx="384048" cy="384048"/>
          </a:xfrm>
          <a:prstGeom prst="ellipse">
            <a:avLst/>
          </a:prstGeom>
          <a:solidFill>
            <a:srgbClr val="56B4E9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1089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17320" y="3063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 outlying sellers/states operationally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17320" y="340156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7C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Northern &amp; Northeastern states carry the worst delivery times and heaviest freight ratios — targeted logistics investment there compounds.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114800"/>
            <a:ext cx="384048" cy="384048"/>
          </a:xfrm>
          <a:prstGeom prst="ellipse">
            <a:avLst/>
          </a:prstGeom>
          <a:solidFill>
            <a:srgbClr val="56B4E9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1148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17320" y="40690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 in seller diversification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17320" y="440740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7C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20% of sellers drive ~82% of revenue — concentration risk worth actively managing.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22960" y="5120640"/>
            <a:ext cx="384048" cy="384048"/>
          </a:xfrm>
          <a:prstGeom prst="ellipse">
            <a:avLst/>
          </a:prstGeom>
          <a:solidFill>
            <a:srgbClr val="56B4E9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120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17320" y="507492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retention programs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417320" y="541324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7C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customers are rare (~3%) but spend ~2x more — even a modest lift in repeat rate is high-value.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63093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analysis: notebook (12 questions) · interactive dashboard · this deck — all linked in the project README.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2026-07-15T07:43:26Z</dcterms:created>
  <dcterms:modified xsi:type="dcterms:W3CDTF">2026-07-15T07:43:26Z</dcterms:modified>
</cp:coreProperties>
</file>