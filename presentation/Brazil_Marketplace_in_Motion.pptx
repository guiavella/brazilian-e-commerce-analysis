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B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5BB8BA-0F8D-471A-B594-A9ED77B1BB18}" v="30" dt="2026-07-17T12:53:47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01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Avella" userId="8f714fdc1d77ebfe" providerId="LiveId" clId="{8C68FAF7-BC27-4596-9C06-050D2A58E361}"/>
    <pc:docChg chg="undo custSel modSld">
      <pc:chgData name="Guilherme Avella" userId="8f714fdc1d77ebfe" providerId="LiveId" clId="{8C68FAF7-BC27-4596-9C06-050D2A58E361}" dt="2026-07-17T12:56:22.582" v="102" actId="20577"/>
      <pc:docMkLst>
        <pc:docMk/>
      </pc:docMkLst>
      <pc:sldChg chg="addSp delSp modSp mod">
        <pc:chgData name="Guilherme Avella" userId="8f714fdc1d77ebfe" providerId="LiveId" clId="{8C68FAF7-BC27-4596-9C06-050D2A58E361}" dt="2026-07-17T12:46:06.973" v="29" actId="1076"/>
        <pc:sldMkLst>
          <pc:docMk/>
          <pc:sldMk cId="0" sldId="258"/>
        </pc:sldMkLst>
        <pc:picChg chg="del mod modCrop">
          <ac:chgData name="Guilherme Avella" userId="8f714fdc1d77ebfe" providerId="LiveId" clId="{8C68FAF7-BC27-4596-9C06-050D2A58E361}" dt="2026-07-17T12:45:55.494" v="24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Guilherme Avella" userId="8f714fdc1d77ebfe" providerId="LiveId" clId="{8C68FAF7-BC27-4596-9C06-050D2A58E361}" dt="2026-07-17T12:46:06.973" v="29" actId="1076"/>
          <ac:picMkLst>
            <pc:docMk/>
            <pc:sldMk cId="0" sldId="258"/>
            <ac:picMk id="11" creationId="{A7943774-7EB2-CA05-94DA-92048183ACBF}"/>
          </ac:picMkLst>
        </pc:picChg>
      </pc:sldChg>
      <pc:sldChg chg="modSp mod">
        <pc:chgData name="Guilherme Avella" userId="8f714fdc1d77ebfe" providerId="LiveId" clId="{8C68FAF7-BC27-4596-9C06-050D2A58E361}" dt="2026-07-17T12:46:15.717" v="30" actId="14826"/>
        <pc:sldMkLst>
          <pc:docMk/>
          <pc:sldMk cId="0" sldId="259"/>
        </pc:sldMkLst>
        <pc:picChg chg="mod">
          <ac:chgData name="Guilherme Avella" userId="8f714fdc1d77ebfe" providerId="LiveId" clId="{8C68FAF7-BC27-4596-9C06-050D2A58E361}" dt="2026-07-17T12:46:15.717" v="30" actId="14826"/>
          <ac:picMkLst>
            <pc:docMk/>
            <pc:sldMk cId="0" sldId="259"/>
            <ac:picMk id="5" creationId="{00000000-0000-0000-0000-000000000000}"/>
          </ac:picMkLst>
        </pc:picChg>
      </pc:sldChg>
      <pc:sldChg chg="modSp mod">
        <pc:chgData name="Guilherme Avella" userId="8f714fdc1d77ebfe" providerId="LiveId" clId="{8C68FAF7-BC27-4596-9C06-050D2A58E361}" dt="2026-07-17T12:46:34.185" v="32" actId="1076"/>
        <pc:sldMkLst>
          <pc:docMk/>
          <pc:sldMk cId="0" sldId="260"/>
        </pc:sldMkLst>
        <pc:picChg chg="mod">
          <ac:chgData name="Guilherme Avella" userId="8f714fdc1d77ebfe" providerId="LiveId" clId="{8C68FAF7-BC27-4596-9C06-050D2A58E361}" dt="2026-07-17T12:46:34.185" v="32" actId="1076"/>
          <ac:picMkLst>
            <pc:docMk/>
            <pc:sldMk cId="0" sldId="260"/>
            <ac:picMk id="5" creationId="{00000000-0000-0000-0000-000000000000}"/>
          </ac:picMkLst>
        </pc:picChg>
      </pc:sldChg>
      <pc:sldChg chg="modSp">
        <pc:chgData name="Guilherme Avella" userId="8f714fdc1d77ebfe" providerId="LiveId" clId="{8C68FAF7-BC27-4596-9C06-050D2A58E361}" dt="2026-07-17T12:46:51.905" v="34" actId="14826"/>
        <pc:sldMkLst>
          <pc:docMk/>
          <pc:sldMk cId="0" sldId="261"/>
        </pc:sldMkLst>
        <pc:picChg chg="mod">
          <ac:chgData name="Guilherme Avella" userId="8f714fdc1d77ebfe" providerId="LiveId" clId="{8C68FAF7-BC27-4596-9C06-050D2A58E361}" dt="2026-07-17T12:46:46.120" v="33" actId="14826"/>
          <ac:picMkLst>
            <pc:docMk/>
            <pc:sldMk cId="0" sldId="261"/>
            <ac:picMk id="5" creationId="{00000000-0000-0000-0000-000000000000}"/>
          </ac:picMkLst>
        </pc:picChg>
        <pc:picChg chg="mod">
          <ac:chgData name="Guilherme Avella" userId="8f714fdc1d77ebfe" providerId="LiveId" clId="{8C68FAF7-BC27-4596-9C06-050D2A58E361}" dt="2026-07-17T12:46:51.905" v="34" actId="14826"/>
          <ac:picMkLst>
            <pc:docMk/>
            <pc:sldMk cId="0" sldId="261"/>
            <ac:picMk id="6" creationId="{00000000-0000-0000-0000-000000000000}"/>
          </ac:picMkLst>
        </pc:picChg>
      </pc:sldChg>
      <pc:sldChg chg="modSp">
        <pc:chgData name="Guilherme Avella" userId="8f714fdc1d77ebfe" providerId="LiveId" clId="{8C68FAF7-BC27-4596-9C06-050D2A58E361}" dt="2026-07-17T12:48:11.435" v="38" actId="14826"/>
        <pc:sldMkLst>
          <pc:docMk/>
          <pc:sldMk cId="0" sldId="262"/>
        </pc:sldMkLst>
        <pc:picChg chg="mod">
          <ac:chgData name="Guilherme Avella" userId="8f714fdc1d77ebfe" providerId="LiveId" clId="{8C68FAF7-BC27-4596-9C06-050D2A58E361}" dt="2026-07-17T12:47:09.616" v="35" actId="14826"/>
          <ac:picMkLst>
            <pc:docMk/>
            <pc:sldMk cId="0" sldId="262"/>
            <ac:picMk id="5" creationId="{00000000-0000-0000-0000-000000000000}"/>
          </ac:picMkLst>
        </pc:picChg>
        <pc:picChg chg="mod">
          <ac:chgData name="Guilherme Avella" userId="8f714fdc1d77ebfe" providerId="LiveId" clId="{8C68FAF7-BC27-4596-9C06-050D2A58E361}" dt="2026-07-17T12:48:11.435" v="38" actId="14826"/>
          <ac:picMkLst>
            <pc:docMk/>
            <pc:sldMk cId="0" sldId="262"/>
            <ac:picMk id="6" creationId="{00000000-0000-0000-0000-000000000000}"/>
          </ac:picMkLst>
        </pc:picChg>
      </pc:sldChg>
      <pc:sldChg chg="modSp">
        <pc:chgData name="Guilherme Avella" userId="8f714fdc1d77ebfe" providerId="LiveId" clId="{8C68FAF7-BC27-4596-9C06-050D2A58E361}" dt="2026-07-17T12:49:33.813" v="40" actId="14826"/>
        <pc:sldMkLst>
          <pc:docMk/>
          <pc:sldMk cId="0" sldId="263"/>
        </pc:sldMkLst>
        <pc:picChg chg="mod">
          <ac:chgData name="Guilherme Avella" userId="8f714fdc1d77ebfe" providerId="LiveId" clId="{8C68FAF7-BC27-4596-9C06-050D2A58E361}" dt="2026-07-17T12:48:33.583" v="39" actId="14826"/>
          <ac:picMkLst>
            <pc:docMk/>
            <pc:sldMk cId="0" sldId="263"/>
            <ac:picMk id="5" creationId="{00000000-0000-0000-0000-000000000000}"/>
          </ac:picMkLst>
        </pc:picChg>
        <pc:picChg chg="mod">
          <ac:chgData name="Guilherme Avella" userId="8f714fdc1d77ebfe" providerId="LiveId" clId="{8C68FAF7-BC27-4596-9C06-050D2A58E361}" dt="2026-07-17T12:49:33.813" v="40" actId="14826"/>
          <ac:picMkLst>
            <pc:docMk/>
            <pc:sldMk cId="0" sldId="263"/>
            <ac:picMk id="6" creationId="{00000000-0000-0000-0000-000000000000}"/>
          </ac:picMkLst>
        </pc:picChg>
      </pc:sldChg>
      <pc:sldChg chg="modSp mod">
        <pc:chgData name="Guilherme Avella" userId="8f714fdc1d77ebfe" providerId="LiveId" clId="{8C68FAF7-BC27-4596-9C06-050D2A58E361}" dt="2026-07-17T12:54:03.924" v="70" actId="14100"/>
        <pc:sldMkLst>
          <pc:docMk/>
          <pc:sldMk cId="0" sldId="264"/>
        </pc:sldMkLst>
        <pc:spChg chg="mod">
          <ac:chgData name="Guilherme Avella" userId="8f714fdc1d77ebfe" providerId="LiveId" clId="{8C68FAF7-BC27-4596-9C06-050D2A58E361}" dt="2026-07-17T12:51:32.665" v="45"/>
          <ac:spMkLst>
            <pc:docMk/>
            <pc:sldMk cId="0" sldId="264"/>
            <ac:spMk id="11" creationId="{00000000-0000-0000-0000-000000000000}"/>
          </ac:spMkLst>
        </pc:spChg>
        <pc:spChg chg="mod">
          <ac:chgData name="Guilherme Avella" userId="8f714fdc1d77ebfe" providerId="LiveId" clId="{8C68FAF7-BC27-4596-9C06-050D2A58E361}" dt="2026-07-17T12:53:45.901" v="65" actId="14100"/>
          <ac:spMkLst>
            <pc:docMk/>
            <pc:sldMk cId="0" sldId="264"/>
            <ac:spMk id="21" creationId="{00000000-0000-0000-0000-000000000000}"/>
          </ac:spMkLst>
        </pc:spChg>
        <pc:spChg chg="mod">
          <ac:chgData name="Guilherme Avella" userId="8f714fdc1d77ebfe" providerId="LiveId" clId="{8C68FAF7-BC27-4596-9C06-050D2A58E361}" dt="2026-07-17T12:54:03.924" v="70" actId="14100"/>
          <ac:spMkLst>
            <pc:docMk/>
            <pc:sldMk cId="0" sldId="264"/>
            <ac:spMk id="22" creationId="{00000000-0000-0000-0000-000000000000}"/>
          </ac:spMkLst>
        </pc:spChg>
        <pc:picChg chg="mod">
          <ac:chgData name="Guilherme Avella" userId="8f714fdc1d77ebfe" providerId="LiveId" clId="{8C68FAF7-BC27-4596-9C06-050D2A58E361}" dt="2026-07-17T12:49:45.547" v="41" actId="14826"/>
          <ac:picMkLst>
            <pc:docMk/>
            <pc:sldMk cId="0" sldId="264"/>
            <ac:picMk id="12" creationId="{00000000-0000-0000-0000-000000000000}"/>
          </ac:picMkLst>
        </pc:picChg>
        <pc:picChg chg="mod">
          <ac:chgData name="Guilherme Avella" userId="8f714fdc1d77ebfe" providerId="LiveId" clId="{8C68FAF7-BC27-4596-9C06-050D2A58E361}" dt="2026-07-17T12:49:52.636" v="42" actId="14826"/>
          <ac:picMkLst>
            <pc:docMk/>
            <pc:sldMk cId="0" sldId="264"/>
            <ac:picMk id="13" creationId="{00000000-0000-0000-0000-000000000000}"/>
          </ac:picMkLst>
        </pc:picChg>
        <pc:picChg chg="mod">
          <ac:chgData name="Guilherme Avella" userId="8f714fdc1d77ebfe" providerId="LiveId" clId="{8C68FAF7-BC27-4596-9C06-050D2A58E361}" dt="2026-07-17T12:50:10.031" v="44" actId="14826"/>
          <ac:picMkLst>
            <pc:docMk/>
            <pc:sldMk cId="0" sldId="264"/>
            <ac:picMk id="14" creationId="{00000000-0000-0000-0000-000000000000}"/>
          </ac:picMkLst>
        </pc:picChg>
        <pc:picChg chg="mod">
          <ac:chgData name="Guilherme Avella" userId="8f714fdc1d77ebfe" providerId="LiveId" clId="{8C68FAF7-BC27-4596-9C06-050D2A58E361}" dt="2026-07-17T12:50:00.914" v="43" actId="14826"/>
          <ac:picMkLst>
            <pc:docMk/>
            <pc:sldMk cId="0" sldId="264"/>
            <ac:picMk id="15" creationId="{00000000-0000-0000-0000-000000000000}"/>
          </ac:picMkLst>
        </pc:picChg>
      </pc:sldChg>
      <pc:sldChg chg="modSp mod">
        <pc:chgData name="Guilherme Avella" userId="8f714fdc1d77ebfe" providerId="LiveId" clId="{8C68FAF7-BC27-4596-9C06-050D2A58E361}" dt="2026-07-17T12:56:22.582" v="102" actId="20577"/>
        <pc:sldMkLst>
          <pc:docMk/>
          <pc:sldMk cId="0" sldId="265"/>
        </pc:sldMkLst>
        <pc:spChg chg="mod">
          <ac:chgData name="Guilherme Avella" userId="8f714fdc1d77ebfe" providerId="LiveId" clId="{8C68FAF7-BC27-4596-9C06-050D2A58E361}" dt="2026-07-17T12:56:22.582" v="102" actId="20577"/>
          <ac:spMkLst>
            <pc:docMk/>
            <pc:sldMk cId="0" sldId="265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6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brazilian-e-commerce-analysis-guilherme.streamlit.app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 ·  FINAL PROJECT  ·  SUMMER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Brazil's Marketplace in Motion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story of the Olist e-commerce ecosystem, 2016–2018 — 100k real orders, 27 states, one marketplace under strain.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6B4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4892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9000" y="4297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6B4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4892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4297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6B4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035040" y="4892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states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41080" y="4297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6B4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641080" y="4892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deliverables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Brazilian E-Commerce Public Dataset by Olist (Kaggle) · Notebook + Streamlit Dashboard +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" cy="365760"/>
          </a:xfrm>
          <a:prstGeom prst="rect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rich, real-world marketplace — not a toy dataset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freight, product weight &amp; dimensions, review scores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566160" y="1965960"/>
            <a:ext cx="457200" cy="457200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520440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9718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product categories, payment types, order status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6446520" y="1965960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400800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9718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seller state / city / zip, geolocation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98280" y="173736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9326880" y="1965960"/>
            <a:ext cx="457200" cy="457200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9281160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81160" y="29718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Purchase, approval, shipping &amp; delivery timestamps, 2016–18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3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olist/work-at-olist-data on GitHub — the official mirror of the Kaggle "Brazilian E-Commerce Public Dataset by Olist". 9 relational tables merged into a 112,650-row, 45-column order-item master table.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212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dataset. Twelve questions. One story.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Brazil's Marketplace in Motion  ·  Data Visualization Final Project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" cy="365760"/>
          </a:xfrm>
          <a:prstGeom prst="rect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DELIVERY &amp; SATISFACTION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Slower delivery states also rate their orders lower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04672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0" y="20116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Northern/Northeastern states average 15–21+ day deliveries and sit visibly below the national review average — the South-East core (SP/PR/MG) delivers fastest and rates highest.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Brazil's Marketplace in Motion  ·  Data Visualization Final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943774-7EB2-CA05-94DA-92048183A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68" y="1550694"/>
            <a:ext cx="7645452" cy="42474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" cy="365760"/>
          </a:xfrm>
          <a:prstGeom prst="rect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DELIVERY &amp; SATISFACTION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late delivery costs almost a full star</a:t>
            </a:r>
            <a:endParaRPr lang="en-US" sz="24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496" y="1710267"/>
            <a:ext cx="7315200" cy="38946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0" y="20116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score falls from 3.98 (on-time) to 2.68 for orders 1-7 days late, and 1.68 past a week late. Lateness — not early arrival — is the single biggest driver of review score.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Brazil's Marketplace in Motion  ·  Data Visualization Final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" cy="365760"/>
          </a:xfrm>
          <a:prstGeom prst="rect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· MARKETPLACE STRUCTURE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sharply concentrated among a few sellers</a:t>
            </a:r>
            <a:endParaRPr lang="en-US" sz="24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496" y="1645920"/>
            <a:ext cx="7028078" cy="3904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0" y="20116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20% of sellers generate roughly 82% of marketplace revenue — a classic Pareto pattern that makes seller-relationship management a high-leverage lever for Olist.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Brazil's Marketplace in Motion  ·  Data Visualization Final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" cy="365760"/>
          </a:xfrm>
          <a:prstGeom prst="rect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&amp; Q3 · PRICE, FREIGHT &amp; SATISFACTION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doesn't buy satisfaction — but size drives freight cost</a:t>
            </a:r>
            <a:endParaRPr lang="en-US" sz="22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4574" y="1554480"/>
            <a:ext cx="5497372" cy="3054096"/>
          </a:xfrm>
          <a:prstGeom prst="rect">
            <a:avLst/>
          </a:prstGeom>
        </p:spPr>
      </p:pic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50618" y="1554480"/>
            <a:ext cx="5403884" cy="31272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709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every top-selling category, review scores stay essentially flat from cheapest to priciest quartile — while bulky, low-value categories like furniture and construction goods carry the heaviest freight-to-price burden. Satisfaction is an operations problem, not a pricing one.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Brazil's Marketplace in Motion  ·  Data Visualization Final Project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" cy="365760"/>
          </a:xfrm>
          <a:prstGeom prst="rect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&amp; Q7 · GROWTH OVER TIME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 growth was healthy, broad-based, and increasingly weekday-driven</a:t>
            </a:r>
            <a:endParaRPr lang="en-US" sz="22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8874" y="1554480"/>
            <a:ext cx="5497372" cy="3054096"/>
          </a:xfrm>
          <a:prstGeom prst="rect">
            <a:avLst/>
          </a:prstGeom>
        </p:spPr>
      </p:pic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92240" y="1657540"/>
            <a:ext cx="5349240" cy="28479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709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and watches/gifts pulled ahead of other categories through 2018, while weekday order volume grew faster than weekends year-over-year — a marketplace maturing past its early, weekend-shopping-driven phase.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Brazil's Marketplace in Motion  ·  Data Visualization Final Project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" cy="365760"/>
          </a:xfrm>
          <a:prstGeom prst="rect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Q5, Q8 &amp; Q12 · CUSTOMERS &amp; PAYMENTS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Northern states spend more, finance longer, and rarely come back</a:t>
            </a:r>
            <a:endParaRPr lang="en-US" sz="22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5333" y="1508760"/>
            <a:ext cx="5464454" cy="3035808"/>
          </a:xfrm>
          <a:prstGeom prst="rect">
            <a:avLst/>
          </a:prstGeom>
        </p:spPr>
      </p:pic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92240" y="1664589"/>
            <a:ext cx="5349240" cy="2724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663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states post the highest average order values and lean hardest on installment financing. Meanwhile repeat customers are just ~3% of the base — but spend roughly double per head — making retention a clear, under-exploited growth lever.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Brazil's Marketplace in Motion  ·  Data Visualization Final Project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" cy="365760"/>
          </a:xfrm>
          <a:prstGeom prst="rect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it yourself — the live Streamlit dashboard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curated, filterable view across three tabs — Sales &amp; Categories, Delivery &amp; Satisfaction, Geography &amp; Customers — built with the same CVD-safe palette and design language as the notebook.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7498080" cy="397764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9050">
            <a:solidFill>
              <a:srgbClr val="D8D3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7498080" cy="365760"/>
          </a:xfrm>
          <a:prstGeom prst="rect">
            <a:avLst/>
          </a:prstGeom>
          <a:solidFill>
            <a:srgbClr val="EDEAE0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8" name="Shape 6"/>
          <p:cNvSpPr/>
          <p:nvPr/>
        </p:nvSpPr>
        <p:spPr>
          <a:xfrm>
            <a:off x="731520" y="2276856"/>
            <a:ext cx="109728" cy="109728"/>
          </a:xfrm>
          <a:prstGeom prst="ellipse">
            <a:avLst/>
          </a:prstGeom>
          <a:solidFill>
            <a:srgbClr val="FF605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987552" y="2276856"/>
            <a:ext cx="109728" cy="109728"/>
          </a:xfrm>
          <a:prstGeom prst="ellipse">
            <a:avLst/>
          </a:prstGeom>
          <a:solidFill>
            <a:srgbClr val="FFBD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1243584" y="2276856"/>
            <a:ext cx="109728" cy="109728"/>
          </a:xfrm>
          <a:prstGeom prst="ellipse">
            <a:avLst/>
          </a:prstGeom>
          <a:solidFill>
            <a:srgbClr val="00CA4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737360" y="21671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https://brazilian-e-commerce-analysis-guilherme.streamlit.app/</a:t>
            </a:r>
            <a:endParaRPr lang="en-US" sz="1000" dirty="0"/>
          </a:p>
        </p:txBody>
      </p:sp>
      <p:pic>
        <p:nvPicPr>
          <p:cNvPr id="1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4489" y="2697480"/>
            <a:ext cx="3177341" cy="1691640"/>
          </a:xfrm>
          <a:prstGeom prst="rect">
            <a:avLst/>
          </a:prstGeom>
        </p:spPr>
      </p:pic>
      <p:pic>
        <p:nvPicPr>
          <p:cNvPr id="13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66844" y="2697480"/>
            <a:ext cx="3044952" cy="1691640"/>
          </a:xfrm>
          <a:prstGeom prst="rect">
            <a:avLst/>
          </a:prstGeom>
        </p:spPr>
      </p:pic>
      <p:pic>
        <p:nvPicPr>
          <p:cNvPr id="14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24128" y="4480560"/>
            <a:ext cx="2798064" cy="1554480"/>
          </a:xfrm>
          <a:prstGeom prst="rect">
            <a:avLst/>
          </a:prstGeom>
        </p:spPr>
      </p:pic>
      <p:pic>
        <p:nvPicPr>
          <p:cNvPr id="15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63103" y="4480560"/>
            <a:ext cx="3052433" cy="1554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66760" y="2194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366760" y="2606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Sales &amp; Categories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8366760" y="31089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Delivery &amp; Satisfaction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366760" y="3611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Geography &amp; Customers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366760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5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year · state · product category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366760" y="489204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0072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6"/>
          <p:cNvSpPr/>
          <p:nvPr/>
        </p:nvSpPr>
        <p:spPr>
          <a:xfrm>
            <a:off x="8503920" y="495604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URL: </a:t>
            </a:r>
            <a:r>
              <a:rPr lang="en-US" sz="1050" dirty="0">
                <a:solidFill>
                  <a:srgbClr val="DAEB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https://brazilian-e-commerce-analysis-guilherme.streamlit.app/</a:t>
            </a:r>
            <a:endParaRPr lang="en-US" sz="1050" dirty="0">
              <a:solidFill>
                <a:srgbClr val="DAEBF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https://github.com/GuiAvella/Brazilian-E-Commerce-Analysis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Brazil's Marketplace in Motion  ·  Data Visualization Final Project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be changed to improve: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56B4E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delivery reliability first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3957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single strongest lever on review score — bigger than price, category, or payment method.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384048" cy="384048"/>
          </a:xfrm>
          <a:prstGeom prst="ellipse">
            <a:avLst/>
          </a:prstGeom>
          <a:solidFill>
            <a:srgbClr val="56B4E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063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outlying sellers/states operationally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40156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&amp; Northeastern states carry the worst delivery times and heaviest freight ratios — targeted logistics investment there compounds.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384048" cy="384048"/>
          </a:xfrm>
          <a:prstGeom prst="ellipse">
            <a:avLst/>
          </a:prstGeom>
          <a:solidFill>
            <a:srgbClr val="56B4E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069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in seller diversification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440740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 of sellers drive ~82% of revenue — concentration risk worth actively managing.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120640"/>
            <a:ext cx="384048" cy="384048"/>
          </a:xfrm>
          <a:prstGeom prst="ellipse">
            <a:avLst/>
          </a:prstGeom>
          <a:solidFill>
            <a:srgbClr val="56B4E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5074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retention programs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541324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are rare (~3%) but spend ~2x more — even a modest lift in repeat rate is high-value.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analysis: notebook (12 questions) · interactive dashboard · this deck — all linked in the project README.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802</Words>
  <Application>Microsoft Office PowerPoint</Application>
  <PresentationFormat>Widescreen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Guilherme Maldonado Pio Avella</cp:lastModifiedBy>
  <cp:revision>1</cp:revision>
  <dcterms:created xsi:type="dcterms:W3CDTF">2026-07-15T07:43:26Z</dcterms:created>
  <dcterms:modified xsi:type="dcterms:W3CDTF">2026-07-17T12:56:27Z</dcterms:modified>
</cp:coreProperties>
</file>